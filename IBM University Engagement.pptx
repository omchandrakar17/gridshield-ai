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9" r:id="rId10"/>
    <p:sldId id="301" r:id="rId11"/>
    <p:sldId id="302" r:id="rId12"/>
    <p:sldId id="303" r:id="rId13"/>
    <p:sldId id="310" r:id="rId14"/>
    <p:sldId id="311"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14"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70ADF83-9720-5F80-5286-5227A61700BB}"/>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F519A3BF-D7F2-65D5-00ED-7CDABE40F9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1691480-6675-FD7B-9995-1E8CB6488D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964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BBA34F-F4F2-E955-8258-9C7A20B155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1430B80-226A-B381-0AD6-9B89D1A17B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CE66811-8507-391A-1F27-A985F7D6BB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9424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72484910"/>
              </p:ext>
            </p:extLst>
          </p:nvPr>
        </p:nvGraphicFramePr>
        <p:xfrm>
          <a:off x="1299257" y="2600315"/>
          <a:ext cx="9037022" cy="2167128"/>
        </p:xfrm>
        <a:graphic>
          <a:graphicData uri="http://schemas.openxmlformats.org/drawingml/2006/table">
            <a:tbl>
              <a:tblPr>
                <a:noFill/>
                <a:tableStyleId>{0AAD8F4D-43EB-41E5-8A38-28AB6DFB1B60}</a:tableStyleId>
              </a:tblPr>
              <a:tblGrid>
                <a:gridCol w="1706900">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Om Chandrakar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chandrakarom934@gmail.com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+91 9302446510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Energy &amp; Power Distribution + Artificial Intelligence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err="1"/>
              <a:t>GridShield</a:t>
            </a:r>
            <a:r>
              <a:rPr lang="en-IN" sz="2400" dirty="0"/>
              <a:t> AI</a:t>
            </a:r>
            <a:endParaRPr lang="en-IN" sz="2400" b="1" dirty="0">
              <a:highlight>
                <a:srgbClr val="FFFF00"/>
              </a:highlight>
            </a:endParaRPr>
          </a:p>
        </p:txBody>
      </p:sp>
      <p:pic>
        <p:nvPicPr>
          <p:cNvPr id="5" name="Picture 4">
            <a:extLst>
              <a:ext uri="{FF2B5EF4-FFF2-40B4-BE49-F238E27FC236}">
                <a16:creationId xmlns:a16="http://schemas.microsoft.com/office/drawing/2014/main" id="{AA6DEDB9-419E-FF7B-A923-3C9072D93B61}"/>
              </a:ext>
            </a:extLst>
          </p:cNvPr>
          <p:cNvPicPr>
            <a:picLocks noChangeAspect="1"/>
          </p:cNvPicPr>
          <p:nvPr/>
        </p:nvPicPr>
        <p:blipFill>
          <a:blip r:embed="rId3"/>
          <a:srcRect t="16600"/>
          <a:stretch>
            <a:fillRect/>
          </a:stretch>
        </p:blipFill>
        <p:spPr>
          <a:xfrm>
            <a:off x="3747086" y="3703561"/>
            <a:ext cx="812722" cy="921039"/>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44608" y="1165753"/>
            <a:ext cx="11102784" cy="5293757"/>
          </a:xfrm>
          <a:prstGeom prst="rect">
            <a:avLst/>
          </a:prstGeom>
          <a:noFill/>
        </p:spPr>
        <p:txBody>
          <a:bodyPr wrap="square" rtlCol="0">
            <a:spAutoFit/>
          </a:bodyPr>
          <a:lstStyle/>
          <a:p>
            <a:r>
              <a:rPr lang="en-US" sz="1800" b="1" dirty="0"/>
              <a:t>Problem Statement No.18 - AI Agent for Electricity Bill Fraud Detection</a:t>
            </a:r>
            <a:endParaRPr lang="en-IN" sz="1800" dirty="0"/>
          </a:p>
          <a:p>
            <a:pPr marL="285750" indent="-285750">
              <a:buFont typeface="Wingdings" panose="05000000000000000000" pitchFamily="2" charset="2"/>
              <a:buChar char="Ø"/>
            </a:pPr>
            <a:r>
              <a:rPr lang="en-US" sz="1800" b="1" dirty="0"/>
              <a:t>The Challenge</a:t>
            </a:r>
            <a:endParaRPr lang="en-IN" sz="1800" b="1" dirty="0"/>
          </a:p>
          <a:p>
            <a:pPr marL="285750" indent="-285750">
              <a:buFont typeface="Arial" panose="020B0604020202020204" pitchFamily="34" charset="0"/>
              <a:buChar char="•"/>
            </a:pPr>
            <a:r>
              <a:rPr lang="en-US" sz="1800" dirty="0"/>
              <a:t>Electricity fraud and billing anomalies lead to major financial losses for power distribution companies. With thousands of consumers and massive billing data, detecting suspicious consumption patterns manually is extremely difficult. Utilities need an intelligent AI system that can automatically analyze electricity usage data and identify potential fraud cases.</a:t>
            </a:r>
            <a:endParaRPr lang="en-IN" sz="1800" dirty="0"/>
          </a:p>
          <a:p>
            <a:pPr marL="285750" indent="-285750">
              <a:buFont typeface="Wingdings" panose="05000000000000000000" pitchFamily="2" charset="2"/>
              <a:buChar char="Ø"/>
            </a:pPr>
            <a:r>
              <a:rPr lang="en-US" sz="1800" b="1" dirty="0"/>
              <a:t>The Objective</a:t>
            </a:r>
            <a:endParaRPr lang="en-IN" sz="1800" b="1" dirty="0"/>
          </a:p>
          <a:p>
            <a:pPr marL="285750" indent="-285750">
              <a:buFont typeface="Arial" panose="020B0604020202020204" pitchFamily="34" charset="0"/>
              <a:buChar char="•"/>
            </a:pPr>
            <a:r>
              <a:rPr lang="en-US" sz="1800" b="1" dirty="0"/>
              <a:t>Build an AI Agent for Electricity Bill Fraud Detection</a:t>
            </a:r>
            <a:r>
              <a:rPr lang="en-US" sz="1800" dirty="0"/>
              <a:t> that analyzes electricity consumption and billing records to detect abnormal patterns and flag potential fraud cases.</a:t>
            </a:r>
            <a:endParaRPr lang="en-IN" sz="1800" dirty="0"/>
          </a:p>
          <a:p>
            <a:pPr marL="285750" indent="-285750">
              <a:buFont typeface="Wingdings" panose="05000000000000000000" pitchFamily="2" charset="2"/>
              <a:buChar char="Ø"/>
            </a:pPr>
            <a:r>
              <a:rPr lang="en-US" sz="1800" dirty="0"/>
              <a:t>The solution should:</a:t>
            </a:r>
            <a:endParaRPr lang="en-IN" sz="1800" dirty="0"/>
          </a:p>
          <a:p>
            <a:pPr marL="285750" lvl="0" indent="-285750">
              <a:buFont typeface="Arial" panose="020B0604020202020204" pitchFamily="34" charset="0"/>
              <a:buChar char="•"/>
            </a:pPr>
            <a:r>
              <a:rPr lang="en-US" sz="1800" b="1" dirty="0"/>
              <a:t>Electricity Consumption Analysis –</a:t>
            </a:r>
            <a:r>
              <a:rPr lang="en-US" sz="1800" dirty="0"/>
              <a:t> Analyze consumer electricity usage data to understand normal consumption behavior and trends.</a:t>
            </a:r>
            <a:endParaRPr lang="en-IN" sz="1800" dirty="0"/>
          </a:p>
          <a:p>
            <a:pPr marL="285750" lvl="0" indent="-285750">
              <a:buFont typeface="Arial" panose="020B0604020202020204" pitchFamily="34" charset="0"/>
              <a:buChar char="•"/>
            </a:pPr>
            <a:r>
              <a:rPr lang="en-US" sz="1800" b="1" dirty="0"/>
              <a:t>Fraud Pattern Identification –</a:t>
            </a:r>
            <a:r>
              <a:rPr lang="en-US" sz="1800" dirty="0"/>
              <a:t> Detect suspicious activities such as sudden drops in usage, unusual spikes, or inconsistencies between meter readings and billed units.</a:t>
            </a:r>
            <a:endParaRPr lang="en-IN" sz="1800" dirty="0"/>
          </a:p>
          <a:p>
            <a:pPr marL="285750" lvl="0" indent="-285750">
              <a:buFont typeface="Arial" panose="020B0604020202020204" pitchFamily="34" charset="0"/>
              <a:buChar char="•"/>
            </a:pPr>
            <a:r>
              <a:rPr lang="en-US" sz="1800" b="1" dirty="0"/>
              <a:t>AI-Based Anomaly Detection –</a:t>
            </a:r>
            <a:r>
              <a:rPr lang="en-US" sz="1800" dirty="0"/>
              <a:t> Automatically identify consumers whose usage patterns significantly deviate from normal historical behavior.</a:t>
            </a:r>
            <a:endParaRPr lang="en-IN" sz="1800" dirty="0"/>
          </a:p>
          <a:p>
            <a:pPr marL="285750" lvl="0" indent="-285750">
              <a:buFont typeface="Arial" panose="020B0604020202020204" pitchFamily="34" charset="0"/>
              <a:buChar char="•"/>
            </a:pPr>
            <a:r>
              <a:rPr lang="en-US" sz="1800" b="1" dirty="0"/>
              <a:t>Explainable AI Insights –</a:t>
            </a:r>
            <a:r>
              <a:rPr lang="en-US" sz="1800" dirty="0"/>
              <a:t> Provide clear explanations for why a particular consumer or electricity bill is flagged as suspicious.</a:t>
            </a:r>
            <a:endParaRPr lang="en-IN" sz="18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703394" y="1162463"/>
            <a:ext cx="10607040" cy="6401753"/>
          </a:xfrm>
          <a:prstGeom prst="rect">
            <a:avLst/>
          </a:prstGeom>
          <a:noFill/>
        </p:spPr>
        <p:txBody>
          <a:bodyPr wrap="square" rtlCol="0">
            <a:spAutoFit/>
          </a:bodyPr>
          <a:lstStyle/>
          <a:p>
            <a:pPr fontAlgn="base"/>
            <a:endParaRPr lang="en-US" b="1" dirty="0"/>
          </a:p>
          <a:p>
            <a:pPr marL="285750" indent="-285750">
              <a:buFont typeface="Wingdings" panose="05000000000000000000" pitchFamily="2" charset="2"/>
              <a:buChar char="Ø"/>
            </a:pPr>
            <a:r>
              <a:rPr lang="en-IN" sz="1600" b="1" dirty="0" err="1"/>
              <a:t>GridShield</a:t>
            </a:r>
            <a:r>
              <a:rPr lang="en-IN" sz="1600" b="1" dirty="0"/>
              <a:t> AI</a:t>
            </a:r>
          </a:p>
          <a:p>
            <a:pPr marL="285750" indent="-285750">
              <a:buFont typeface="Arial" panose="020B0604020202020204" pitchFamily="34" charset="0"/>
              <a:buChar char="•"/>
            </a:pPr>
            <a:r>
              <a:rPr lang="en-IN" sz="1600" dirty="0"/>
              <a:t>The proposed solution is an </a:t>
            </a:r>
            <a:r>
              <a:rPr lang="en-IN" sz="1600" b="1" dirty="0"/>
              <a:t>Agentic AI-powered Electricity Fraud Detection and Investigation Platform</a:t>
            </a:r>
            <a:r>
              <a:rPr lang="en-IN" sz="1600" dirty="0"/>
              <a:t> built using </a:t>
            </a:r>
            <a:r>
              <a:rPr lang="en-IN" sz="1600" b="1" dirty="0"/>
              <a:t>IBM Bob, IBM </a:t>
            </a:r>
            <a:r>
              <a:rPr lang="en-IN" sz="1600" b="1" dirty="0" err="1"/>
              <a:t>Langflow</a:t>
            </a:r>
            <a:r>
              <a:rPr lang="en-IN" sz="1600" b="1" dirty="0"/>
              <a:t> / IBM Orchestrate, and IBM Granite Models</a:t>
            </a:r>
            <a:r>
              <a:rPr lang="en-IN" sz="1600" dirty="0"/>
              <a:t> to </a:t>
            </a:r>
            <a:r>
              <a:rPr lang="en-IN" sz="1600" dirty="0" err="1"/>
              <a:t>analyze</a:t>
            </a:r>
            <a:r>
              <a:rPr lang="en-IN" sz="1600" dirty="0"/>
              <a:t> electricity consumption and billing records.</a:t>
            </a:r>
          </a:p>
          <a:p>
            <a:pPr marL="285750" indent="-285750">
              <a:buFont typeface="Arial" panose="020B0604020202020204" pitchFamily="34" charset="0"/>
              <a:buChar char="•"/>
            </a:pPr>
            <a:r>
              <a:rPr lang="en-IN" sz="1600" dirty="0" err="1"/>
              <a:t>GridShield</a:t>
            </a:r>
            <a:r>
              <a:rPr lang="en-IN" sz="1600" dirty="0"/>
              <a:t> AI identifies abnormal patterns such as </a:t>
            </a:r>
            <a:r>
              <a:rPr lang="en-IN" sz="1600" b="1" dirty="0"/>
              <a:t>sudden consumption drops, unusual spikes, historical deviations, and meter-to-billing inconsistencies</a:t>
            </a:r>
            <a:r>
              <a:rPr lang="en-IN" sz="1600" dirty="0"/>
              <a:t> using AI-based anomaly detection.</a:t>
            </a:r>
          </a:p>
          <a:p>
            <a:endParaRPr lang="en-IN" sz="1600" dirty="0"/>
          </a:p>
          <a:p>
            <a:pPr marL="285750" indent="-285750">
              <a:buFont typeface="Wingdings" panose="05000000000000000000" pitchFamily="2" charset="2"/>
              <a:buChar char="Ø"/>
            </a:pPr>
            <a:r>
              <a:rPr lang="en-IN" sz="1600" b="1" dirty="0"/>
              <a:t>The system consists of five specialized agents:</a:t>
            </a:r>
          </a:p>
          <a:p>
            <a:pPr marL="285750" indent="-285750">
              <a:buFont typeface="Wingdings" panose="05000000000000000000" pitchFamily="2" charset="2"/>
              <a:buChar char="Ø"/>
            </a:pPr>
            <a:endParaRPr lang="en-IN" sz="1600" b="1" dirty="0"/>
          </a:p>
          <a:p>
            <a:pPr marL="285750" lvl="0" indent="-285750">
              <a:buFont typeface="Arial" panose="020B0604020202020204" pitchFamily="34" charset="0"/>
              <a:buChar char="•"/>
            </a:pPr>
            <a:r>
              <a:rPr lang="en-IN" sz="1600" b="1" dirty="0"/>
              <a:t>Data Analysis Agent</a:t>
            </a:r>
            <a:r>
              <a:rPr lang="en-IN" sz="1600" dirty="0"/>
              <a:t> – </a:t>
            </a:r>
            <a:r>
              <a:rPr lang="en-IN" sz="1600" dirty="0" err="1"/>
              <a:t>analyzes</a:t>
            </a:r>
            <a:r>
              <a:rPr lang="en-IN" sz="1600" dirty="0"/>
              <a:t> consumption and billing history. </a:t>
            </a:r>
          </a:p>
          <a:p>
            <a:pPr marL="285750" lvl="0" indent="-285750">
              <a:buFont typeface="Arial" panose="020B0604020202020204" pitchFamily="34" charset="0"/>
              <a:buChar char="•"/>
            </a:pPr>
            <a:r>
              <a:rPr lang="en-IN" sz="1600" b="1" dirty="0"/>
              <a:t>Anomaly Detection Agent</a:t>
            </a:r>
            <a:r>
              <a:rPr lang="en-IN" sz="1600" dirty="0"/>
              <a:t> – identifies unusual patterns. </a:t>
            </a:r>
          </a:p>
          <a:p>
            <a:pPr marL="285750" lvl="0" indent="-285750">
              <a:buFont typeface="Arial" panose="020B0604020202020204" pitchFamily="34" charset="0"/>
              <a:buChar char="•"/>
            </a:pPr>
            <a:r>
              <a:rPr lang="en-IN" sz="1600" b="1" dirty="0"/>
              <a:t>Fraud Investigation Agent</a:t>
            </a:r>
            <a:r>
              <a:rPr lang="en-IN" sz="1600" dirty="0"/>
              <a:t> – correlates suspicious indicators. </a:t>
            </a:r>
          </a:p>
          <a:p>
            <a:pPr marL="285750" lvl="0" indent="-285750">
              <a:buFont typeface="Arial" panose="020B0604020202020204" pitchFamily="34" charset="0"/>
              <a:buChar char="•"/>
            </a:pPr>
            <a:r>
              <a:rPr lang="en-IN" sz="1600" b="1" dirty="0"/>
              <a:t>Explainability Agent</a:t>
            </a:r>
            <a:r>
              <a:rPr lang="en-IN" sz="1600" dirty="0"/>
              <a:t> – explains why a consumer was flagged. </a:t>
            </a:r>
          </a:p>
          <a:p>
            <a:pPr marL="285750" lvl="0" indent="-285750">
              <a:buFont typeface="Arial" panose="020B0604020202020204" pitchFamily="34" charset="0"/>
              <a:buChar char="•"/>
            </a:pPr>
            <a:r>
              <a:rPr lang="en-IN" sz="1600" b="1" dirty="0"/>
              <a:t>Decision Support Agent</a:t>
            </a:r>
            <a:r>
              <a:rPr lang="en-IN" sz="1600" dirty="0"/>
              <a:t> – provides risk level and recommended action. </a:t>
            </a:r>
          </a:p>
          <a:p>
            <a:pPr lvl="0"/>
            <a:endParaRPr lang="en-IN" sz="1600" dirty="0"/>
          </a:p>
          <a:p>
            <a:pPr marL="285750" indent="-285750">
              <a:buFont typeface="Wingdings" panose="05000000000000000000" pitchFamily="2" charset="2"/>
              <a:buChar char="Ø"/>
            </a:pPr>
            <a:r>
              <a:rPr lang="en-IN" sz="1600" dirty="0"/>
              <a:t>A </a:t>
            </a:r>
            <a:r>
              <a:rPr lang="en-IN" sz="1600" b="1" dirty="0"/>
              <a:t>web-based dashboard</a:t>
            </a:r>
            <a:r>
              <a:rPr lang="en-IN" sz="1600" dirty="0"/>
              <a:t> allows investigators to </a:t>
            </a:r>
            <a:r>
              <a:rPr lang="en-IN" sz="1600" dirty="0" err="1"/>
              <a:t>analyze</a:t>
            </a:r>
            <a:r>
              <a:rPr lang="en-IN" sz="1600" dirty="0"/>
              <a:t> consumers, view anomalies, understand AI-generated evidence, manage investigation cases, and generate reports.</a:t>
            </a:r>
          </a:p>
          <a:p>
            <a:pPr marL="285750" indent="-285750">
              <a:buFont typeface="Wingdings" panose="05000000000000000000" pitchFamily="2" charset="2"/>
              <a:buChar char="Ø"/>
            </a:pPr>
            <a:r>
              <a:rPr lang="en-IN" sz="1600" b="1" dirty="0"/>
              <a:t>IBM </a:t>
            </a:r>
            <a:r>
              <a:rPr lang="en-IN" sz="1600" b="1" dirty="0" err="1"/>
              <a:t>Langflow</a:t>
            </a:r>
            <a:r>
              <a:rPr lang="en-IN" sz="1600" b="1" dirty="0"/>
              <a:t> / IBM Orchestrate</a:t>
            </a:r>
            <a:r>
              <a:rPr lang="en-IN" sz="1600" dirty="0"/>
              <a:t> orchestrates the agent workflow, while </a:t>
            </a:r>
            <a:r>
              <a:rPr lang="en-IN" sz="1600" b="1" dirty="0"/>
              <a:t>IBM Granite Models</a:t>
            </a:r>
            <a:r>
              <a:rPr lang="en-IN" sz="1600" dirty="0"/>
              <a:t> provide AI reasoning and explainable insights.</a:t>
            </a:r>
          </a:p>
          <a:p>
            <a:pPr marL="285750" indent="-285750">
              <a:buFont typeface="Wingdings" panose="05000000000000000000" pitchFamily="2" charset="2"/>
              <a:buChar char="Ø"/>
            </a:pPr>
            <a:r>
              <a:rPr lang="en-IN" sz="1600" dirty="0"/>
              <a:t>Overall, </a:t>
            </a:r>
            <a:r>
              <a:rPr lang="en-IN" sz="1600" dirty="0" err="1"/>
              <a:t>GridShield</a:t>
            </a:r>
            <a:r>
              <a:rPr lang="en-IN" sz="1600" dirty="0"/>
              <a:t> AI transforms electricity data into </a:t>
            </a:r>
            <a:r>
              <a:rPr lang="en-IN" sz="1600" b="1" dirty="0"/>
              <a:t>actionable, explainable fraud-investigation intelligence</a:t>
            </a:r>
            <a:r>
              <a:rPr lang="en-IN" sz="1600" dirty="0"/>
              <a:t> while keeping the final decision with human investigators.</a:t>
            </a:r>
          </a:p>
          <a:p>
            <a:br>
              <a:rPr lang="en-IN" sz="1600" dirty="0"/>
            </a:br>
            <a:endParaRPr lang="en-IN" sz="1600"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838200" y="1418165"/>
            <a:ext cx="10515600" cy="4955203"/>
          </a:xfrm>
          <a:prstGeom prst="rect">
            <a:avLst/>
          </a:prstGeom>
          <a:noFill/>
        </p:spPr>
        <p:txBody>
          <a:bodyPr wrap="square" rtlCol="0">
            <a:spAutoFit/>
          </a:bodyPr>
          <a:lstStyle/>
          <a:p>
            <a:pPr marL="285750" lvl="0" indent="-285750">
              <a:buFont typeface="Arial" panose="020B0604020202020204" pitchFamily="34" charset="0"/>
              <a:buChar char="•"/>
            </a:pPr>
            <a:r>
              <a:rPr lang="en-IN" sz="1800" b="1" dirty="0"/>
              <a:t>IBM Bob Platform</a:t>
            </a:r>
            <a:r>
              <a:rPr lang="en-IN" sz="1800" dirty="0"/>
              <a:t> – For designing and orchestrating the Agentic AI workflow.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IBM </a:t>
            </a:r>
            <a:r>
              <a:rPr lang="en-IN" sz="1800" b="1" dirty="0" err="1"/>
              <a:t>Langflow</a:t>
            </a:r>
            <a:r>
              <a:rPr lang="en-IN" sz="1800" b="1" dirty="0"/>
              <a:t> / IBM Orchestrate</a:t>
            </a:r>
            <a:r>
              <a:rPr lang="en-IN" sz="1800" dirty="0"/>
              <a:t> – For connecting and coordinating multiple AI agents.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IBM Granite Model</a:t>
            </a:r>
            <a:r>
              <a:rPr lang="en-IN" sz="1800" dirty="0"/>
              <a:t> – For reasoning, investigation analysis, explanation, and generating AI insights.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IBM Cloud</a:t>
            </a:r>
            <a:r>
              <a:rPr lang="en-IN" sz="1800" dirty="0"/>
              <a:t> – For secure and scalable deployment of the application and AI services.</a:t>
            </a:r>
          </a:p>
          <a:p>
            <a:pPr lvl="0"/>
            <a:endParaRPr lang="en-IN" sz="1800" dirty="0"/>
          </a:p>
          <a:p>
            <a:pPr marL="285750" lvl="0" indent="-285750">
              <a:buFont typeface="Arial" panose="020B0604020202020204" pitchFamily="34" charset="0"/>
              <a:buChar char="•"/>
            </a:pPr>
            <a:r>
              <a:rPr lang="en-IN" sz="1800" b="1" dirty="0"/>
              <a:t>RAG</a:t>
            </a:r>
            <a:r>
              <a:rPr lang="en-IN" sz="1800" dirty="0"/>
              <a:t> – For retrieving relevant electricity consumption and billing information before generating investigation insights.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Python</a:t>
            </a:r>
            <a:r>
              <a:rPr lang="en-IN" sz="1800" dirty="0"/>
              <a:t> – For data processing, feature analysis, and anomaly detection. </a:t>
            </a:r>
          </a:p>
          <a:p>
            <a:pPr lvl="0"/>
            <a:endParaRPr lang="en-IN" sz="1800" dirty="0"/>
          </a:p>
          <a:p>
            <a:pPr marL="285750" lvl="0" indent="-285750">
              <a:buFont typeface="Arial" panose="020B0604020202020204" pitchFamily="34" charset="0"/>
              <a:buChar char="•"/>
            </a:pPr>
            <a:r>
              <a:rPr lang="en-IN" sz="1800" b="1" dirty="0"/>
              <a:t>FAISS / Chroma Vector Database</a:t>
            </a:r>
            <a:r>
              <a:rPr lang="en-IN" sz="1800" dirty="0"/>
              <a:t> – For efficient retrieval of relevant electricity and billing records.</a:t>
            </a:r>
          </a:p>
          <a:p>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632311"/>
          </a:xfrm>
          <a:prstGeom prst="rect">
            <a:avLst/>
          </a:prstGeom>
          <a:noFill/>
        </p:spPr>
        <p:txBody>
          <a:bodyPr wrap="square" rtlCol="0">
            <a:spAutoFit/>
          </a:bodyPr>
          <a:lstStyle/>
          <a:p>
            <a:pPr marL="285750" indent="-285750">
              <a:buFont typeface="Wingdings" panose="05000000000000000000" pitchFamily="2" charset="2"/>
              <a:buChar char="Ø"/>
            </a:pPr>
            <a:r>
              <a:rPr lang="en-IN" sz="1800" b="1" dirty="0"/>
              <a:t>Required Files created using IBM Bob –</a:t>
            </a:r>
          </a:p>
          <a:p>
            <a:pPr marL="285750" indent="-285750">
              <a:buFont typeface="Wingdings" panose="05000000000000000000" pitchFamily="2" charset="2"/>
              <a:buChar char="Ø"/>
            </a:pPr>
            <a:endParaRPr lang="en-IN" sz="1800" b="1" dirty="0"/>
          </a:p>
          <a:p>
            <a:pPr marL="342900" lvl="0" indent="-342900">
              <a:buFont typeface="+mj-lt"/>
              <a:buAutoNum type="arabicPeriod"/>
            </a:pPr>
            <a:r>
              <a:rPr lang="en-IN" sz="1800" b="1" dirty="0"/>
              <a:t>Backend – main.py</a:t>
            </a:r>
            <a:r>
              <a:rPr lang="en-IN" sz="1800" dirty="0"/>
              <a:t> – </a:t>
            </a:r>
            <a:r>
              <a:rPr lang="en-IN" sz="1800" dirty="0" err="1"/>
              <a:t>FastAPI</a:t>
            </a:r>
            <a:r>
              <a:rPr lang="en-IN" sz="1800" dirty="0"/>
              <a:t> application entry point </a:t>
            </a:r>
          </a:p>
          <a:p>
            <a:pPr marL="342900" lvl="0" indent="-342900">
              <a:buFont typeface="+mj-lt"/>
              <a:buAutoNum type="arabicPeriod"/>
            </a:pPr>
            <a:r>
              <a:rPr lang="en-IN" sz="1800" b="1" dirty="0"/>
              <a:t>agents/watsonx_agents.py</a:t>
            </a:r>
            <a:r>
              <a:rPr lang="en-IN" sz="1800" dirty="0"/>
              <a:t> – 5-Agent IBM watsonx.ai pipeline </a:t>
            </a:r>
          </a:p>
          <a:p>
            <a:pPr marL="342900" lvl="0" indent="-342900">
              <a:buFont typeface="+mj-lt"/>
              <a:buAutoNum type="arabicPeriod"/>
            </a:pPr>
            <a:r>
              <a:rPr lang="en-IN" sz="1800" b="1" dirty="0"/>
              <a:t>services/anomaly_detection.py</a:t>
            </a:r>
            <a:r>
              <a:rPr lang="en-IN" sz="1800" dirty="0"/>
              <a:t> – Electricity anomaly detection </a:t>
            </a:r>
          </a:p>
          <a:p>
            <a:pPr marL="342900" lvl="0" indent="-342900">
              <a:buFont typeface="+mj-lt"/>
              <a:buAutoNum type="arabicPeriod"/>
            </a:pPr>
            <a:r>
              <a:rPr lang="en-IN" sz="1800" b="1" dirty="0"/>
              <a:t>services/ingestion.py</a:t>
            </a:r>
            <a:r>
              <a:rPr lang="en-IN" sz="1800" dirty="0"/>
              <a:t> – Data validation and cleaning </a:t>
            </a:r>
          </a:p>
          <a:p>
            <a:pPr marL="342900" lvl="0" indent="-342900">
              <a:buFont typeface="+mj-lt"/>
              <a:buAutoNum type="arabicPeriod"/>
            </a:pPr>
            <a:r>
              <a:rPr lang="en-IN" sz="1800" b="1" dirty="0"/>
              <a:t>services/analysis.py</a:t>
            </a:r>
            <a:r>
              <a:rPr lang="en-IN" sz="1800" dirty="0"/>
              <a:t> – Consumption profiling and analysis </a:t>
            </a:r>
          </a:p>
          <a:p>
            <a:pPr marL="342900" lvl="0" indent="-342900">
              <a:buFont typeface="+mj-lt"/>
              <a:buAutoNum type="arabicPeriod"/>
            </a:pPr>
            <a:r>
              <a:rPr lang="en-IN" sz="1800" b="1" dirty="0"/>
              <a:t>Frontend – React + Vite</a:t>
            </a:r>
            <a:r>
              <a:rPr lang="en-IN" sz="1800" dirty="0"/>
              <a:t> – Dashboard and investigation interface </a:t>
            </a:r>
          </a:p>
          <a:p>
            <a:pPr marL="342900" lvl="0" indent="-342900">
              <a:buFont typeface="+mj-lt"/>
              <a:buAutoNum type="arabicPeriod"/>
            </a:pPr>
            <a:r>
              <a:rPr lang="en-IN" sz="1800" b="1" dirty="0" err="1"/>
              <a:t>api.ts</a:t>
            </a:r>
            <a:r>
              <a:rPr lang="en-IN" sz="1800" dirty="0"/>
              <a:t> – Frontend–Backend API integration </a:t>
            </a:r>
          </a:p>
          <a:p>
            <a:pPr marL="342900" lvl="0" indent="-342900">
              <a:buFont typeface="+mj-lt"/>
              <a:buAutoNum type="arabicPeriod"/>
            </a:pPr>
            <a:r>
              <a:rPr lang="en-IN" sz="1800" b="1" dirty="0"/>
              <a:t>requirements.txt</a:t>
            </a:r>
            <a:r>
              <a:rPr lang="en-IN" sz="1800" dirty="0"/>
              <a:t> – Python dependencies </a:t>
            </a:r>
          </a:p>
          <a:p>
            <a:pPr marL="342900" lvl="0" indent="-342900">
              <a:buFont typeface="+mj-lt"/>
              <a:buAutoNum type="arabicPeriod"/>
            </a:pPr>
            <a:r>
              <a:rPr lang="en-IN" sz="1800" b="1" dirty="0"/>
              <a:t>.</a:t>
            </a:r>
            <a:r>
              <a:rPr lang="en-IN" sz="1800" b="1" dirty="0" err="1"/>
              <a:t>env.example</a:t>
            </a:r>
            <a:r>
              <a:rPr lang="en-IN" sz="1800" dirty="0"/>
              <a:t> – IBM watsonx.ai configuration </a:t>
            </a:r>
          </a:p>
          <a:p>
            <a:pPr marL="342900" lvl="0" indent="-342900">
              <a:buFont typeface="+mj-lt"/>
              <a:buAutoNum type="arabicPeriod"/>
            </a:pPr>
            <a:r>
              <a:rPr lang="en-IN" sz="1800" b="1" dirty="0"/>
              <a:t>report_service.py</a:t>
            </a:r>
            <a:r>
              <a:rPr lang="en-IN" sz="1800" dirty="0"/>
              <a:t> – PDF investigation report generation </a:t>
            </a:r>
          </a:p>
          <a:p>
            <a:pPr lvl="0"/>
            <a:endParaRPr lang="en-IN" sz="1800" dirty="0"/>
          </a:p>
          <a:p>
            <a:pPr marL="285750" indent="-285750">
              <a:buFont typeface="Wingdings" panose="05000000000000000000" pitchFamily="2" charset="2"/>
              <a:buChar char="Ø"/>
            </a:pPr>
            <a:r>
              <a:rPr lang="en-IN" sz="1800" b="1" dirty="0"/>
              <a:t>Core Agent Files:</a:t>
            </a:r>
            <a:endParaRPr lang="en-IN" sz="1800" dirty="0"/>
          </a:p>
          <a:p>
            <a:pPr marL="285750" lvl="0" indent="-285750">
              <a:buFont typeface="Arial" panose="020B0604020202020204" pitchFamily="34" charset="0"/>
              <a:buChar char="•"/>
            </a:pPr>
            <a:r>
              <a:rPr lang="en-IN" sz="1800" dirty="0" err="1"/>
              <a:t>DataAnalysisAgent</a:t>
            </a:r>
            <a:r>
              <a:rPr lang="en-IN" sz="1800" dirty="0"/>
              <a:t> </a:t>
            </a:r>
          </a:p>
          <a:p>
            <a:pPr marL="285750" lvl="0" indent="-285750">
              <a:buFont typeface="Arial" panose="020B0604020202020204" pitchFamily="34" charset="0"/>
              <a:buChar char="•"/>
            </a:pPr>
            <a:r>
              <a:rPr lang="en-IN" sz="1800" dirty="0" err="1"/>
              <a:t>AnomalyDetectionAgent</a:t>
            </a:r>
            <a:r>
              <a:rPr lang="en-IN" sz="1800" dirty="0"/>
              <a:t> </a:t>
            </a:r>
          </a:p>
          <a:p>
            <a:pPr marL="285750" lvl="0" indent="-285750">
              <a:buFont typeface="Arial" panose="020B0604020202020204" pitchFamily="34" charset="0"/>
              <a:buChar char="•"/>
            </a:pPr>
            <a:r>
              <a:rPr lang="en-IN" sz="1800" dirty="0" err="1"/>
              <a:t>FraudInvestigationAgent</a:t>
            </a:r>
            <a:r>
              <a:rPr lang="en-IN" sz="1800" dirty="0"/>
              <a:t> </a:t>
            </a:r>
          </a:p>
          <a:p>
            <a:pPr marL="285750" lvl="0" indent="-285750">
              <a:buFont typeface="Arial" panose="020B0604020202020204" pitchFamily="34" charset="0"/>
              <a:buChar char="•"/>
            </a:pPr>
            <a:r>
              <a:rPr lang="en-IN" sz="1800" dirty="0" err="1"/>
              <a:t>ExplainabilityAgent</a:t>
            </a:r>
            <a:r>
              <a:rPr lang="en-IN" sz="1800" dirty="0"/>
              <a:t> </a:t>
            </a:r>
          </a:p>
          <a:p>
            <a:pPr marL="285750" lvl="0" indent="-285750">
              <a:buFont typeface="Arial" panose="020B0604020202020204" pitchFamily="34" charset="0"/>
              <a:buChar char="•"/>
            </a:pPr>
            <a:r>
              <a:rPr lang="en-IN" sz="1800" dirty="0" err="1"/>
              <a:t>DecisionSupportAgent</a:t>
            </a:r>
            <a:endParaRPr lang="en-IN" sz="1800" dirty="0"/>
          </a:p>
          <a:p>
            <a:endParaRPr lang="en-IN" sz="1800" dirty="0"/>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F2D13412-2185-94C0-3002-29681D4C4F49}"/>
              </a:ext>
            </a:extLst>
          </p:cNvPr>
          <p:cNvPicPr>
            <a:picLocks noChangeAspect="1"/>
          </p:cNvPicPr>
          <p:nvPr/>
        </p:nvPicPr>
        <p:blipFill>
          <a:blip r:embed="rId3"/>
          <a:stretch>
            <a:fillRect/>
          </a:stretch>
        </p:blipFill>
        <p:spPr>
          <a:xfrm>
            <a:off x="1646498" y="1192429"/>
            <a:ext cx="8899003" cy="4734994"/>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677C6B-C87D-FCD8-C9E1-525D293AA2F2}"/>
              </a:ext>
            </a:extLst>
          </p:cNvPr>
          <p:cNvPicPr>
            <a:picLocks noChangeAspect="1"/>
          </p:cNvPicPr>
          <p:nvPr/>
        </p:nvPicPr>
        <p:blipFill>
          <a:blip r:embed="rId2"/>
          <a:stretch>
            <a:fillRect/>
          </a:stretch>
        </p:blipFill>
        <p:spPr>
          <a:xfrm>
            <a:off x="1084304" y="767598"/>
            <a:ext cx="10023392" cy="5322803"/>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701169"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1010245"/>
            <a:ext cx="8225681" cy="5847755"/>
          </a:xfrm>
          <a:prstGeom prst="rect">
            <a:avLst/>
          </a:prstGeom>
          <a:noFill/>
        </p:spPr>
        <p:txBody>
          <a:bodyPr wrap="square" rtlCol="0">
            <a:spAutoFit/>
          </a:bodyPr>
          <a:lstStyle/>
          <a:p>
            <a:r>
              <a:rPr lang="en-US" sz="1800" b="1" dirty="0"/>
              <a:t>Role of Agentic AI in </a:t>
            </a:r>
            <a:r>
              <a:rPr lang="en-IN" sz="1800" b="1" dirty="0" err="1"/>
              <a:t>GridShield</a:t>
            </a:r>
            <a:r>
              <a:rPr lang="en-IN" sz="1800" b="1" dirty="0"/>
              <a:t> AI</a:t>
            </a:r>
          </a:p>
          <a:p>
            <a:endParaRPr lang="en-IN" sz="1800" b="1" dirty="0"/>
          </a:p>
          <a:p>
            <a:pPr marL="285750" lvl="0" indent="-285750">
              <a:buFont typeface="Arial" panose="020B0604020202020204" pitchFamily="34" charset="0"/>
              <a:buChar char="•"/>
            </a:pPr>
            <a:r>
              <a:rPr lang="en-IN" sz="1800" b="1" dirty="0"/>
              <a:t>Data Analysis Agent</a:t>
            </a:r>
            <a:r>
              <a:rPr lang="en-IN" sz="1800" dirty="0"/>
              <a:t> – </a:t>
            </a:r>
            <a:r>
              <a:rPr lang="en-IN" sz="1800" dirty="0" err="1"/>
              <a:t>Analyzes</a:t>
            </a:r>
            <a:r>
              <a:rPr lang="en-IN" sz="1800" dirty="0"/>
              <a:t> consumer billing and electricity consumption history.</a:t>
            </a:r>
          </a:p>
          <a:p>
            <a:pPr lvl="0"/>
            <a:endParaRPr lang="en-IN" sz="1800" dirty="0"/>
          </a:p>
          <a:p>
            <a:pPr marL="285750" lvl="0" indent="-285750">
              <a:buFont typeface="Arial" panose="020B0604020202020204" pitchFamily="34" charset="0"/>
              <a:buChar char="•"/>
            </a:pPr>
            <a:r>
              <a:rPr lang="en-IN" sz="1800" b="1" dirty="0"/>
              <a:t>Anomaly Detection Agent</a:t>
            </a:r>
            <a:r>
              <a:rPr lang="en-IN" sz="1800" dirty="0"/>
              <a:t> – Detects unusual consumption patterns and billing/meter inconsistencies. </a:t>
            </a:r>
          </a:p>
          <a:p>
            <a:pPr marL="285750" lvl="0" indent="-285750">
              <a:buFont typeface="Arial" panose="020B0604020202020204" pitchFamily="34" charset="0"/>
              <a:buChar char="•"/>
            </a:pPr>
            <a:endParaRPr lang="en-IN" sz="1800" dirty="0"/>
          </a:p>
          <a:p>
            <a:pPr marL="285750" lvl="0" indent="-285750">
              <a:buFont typeface="Arial" panose="020B0604020202020204" pitchFamily="34" charset="0"/>
              <a:buChar char="•"/>
            </a:pPr>
            <a:r>
              <a:rPr lang="en-IN" sz="1800" b="1" dirty="0"/>
              <a:t>Fraud Investigation Agent</a:t>
            </a:r>
            <a:r>
              <a:rPr lang="en-IN" sz="1800" dirty="0"/>
              <a:t> – Correlates multiple anomalies to identify potentially suspicious cases. </a:t>
            </a:r>
          </a:p>
          <a:p>
            <a:pPr lvl="0"/>
            <a:endParaRPr lang="en-IN" sz="1800" dirty="0"/>
          </a:p>
          <a:p>
            <a:pPr marL="285750" lvl="0" indent="-285750">
              <a:buFont typeface="Arial" panose="020B0604020202020204" pitchFamily="34" charset="0"/>
              <a:buChar char="•"/>
            </a:pPr>
            <a:r>
              <a:rPr lang="en-IN" sz="1800" b="1" dirty="0"/>
              <a:t>Explainability Agent</a:t>
            </a:r>
            <a:r>
              <a:rPr lang="en-IN" sz="1800" dirty="0"/>
              <a:t> – Explains the evidence and reasons behind each flagged case.</a:t>
            </a:r>
          </a:p>
          <a:p>
            <a:pPr lvl="0"/>
            <a:r>
              <a:rPr lang="en-IN" sz="1800" dirty="0"/>
              <a:t> </a:t>
            </a:r>
          </a:p>
          <a:p>
            <a:pPr marL="285750" lvl="0" indent="-285750">
              <a:buFont typeface="Arial" panose="020B0604020202020204" pitchFamily="34" charset="0"/>
              <a:buChar char="•"/>
            </a:pPr>
            <a:r>
              <a:rPr lang="en-IN" sz="1800" b="1" dirty="0"/>
              <a:t>Decision Support Agent</a:t>
            </a:r>
            <a:r>
              <a:rPr lang="en-IN" sz="1800" dirty="0"/>
              <a:t> – Generates risk priority and recommends the next investigation action. </a:t>
            </a:r>
          </a:p>
          <a:p>
            <a:pPr lvl="0"/>
            <a:endParaRPr lang="en-IN" sz="1800" dirty="0"/>
          </a:p>
          <a:p>
            <a:pPr marL="285750" lvl="0" indent="-285750">
              <a:buFont typeface="Arial" panose="020B0604020202020204" pitchFamily="34" charset="0"/>
              <a:buChar char="•"/>
            </a:pPr>
            <a:r>
              <a:rPr lang="en-IN" sz="1800" b="1" dirty="0"/>
              <a:t>Agent Collaboration</a:t>
            </a:r>
            <a:r>
              <a:rPr lang="en-IN" sz="1800" dirty="0"/>
              <a:t> – Agents work together through the workflow to provide an </a:t>
            </a:r>
            <a:r>
              <a:rPr lang="en-IN" sz="1800" b="1" dirty="0"/>
              <a:t>automated, evidence-based investigation</a:t>
            </a:r>
            <a:r>
              <a:rPr lang="en-IN" sz="1800" dirty="0"/>
              <a:t>, while the final decision remains with the human investigator.</a:t>
            </a:r>
          </a:p>
          <a:p>
            <a:endParaRPr lang="en-US" b="1" dirty="0"/>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819BEA7E-59FB-6ED1-8E6F-2531825CDD81}"/>
              </a:ext>
            </a:extLst>
          </p:cNvPr>
          <p:cNvPicPr>
            <a:picLocks noChangeAspect="1"/>
          </p:cNvPicPr>
          <p:nvPr/>
        </p:nvPicPr>
        <p:blipFill>
          <a:blip r:embed="rId3"/>
          <a:stretch>
            <a:fillRect/>
          </a:stretch>
        </p:blipFill>
        <p:spPr>
          <a:xfrm>
            <a:off x="1045341" y="1062384"/>
            <a:ext cx="10101317" cy="5361712"/>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573A0274-91AA-6E6A-6E6B-BBD288AC18D9}"/>
              </a:ext>
            </a:extLst>
          </p:cNvPr>
          <p:cNvPicPr>
            <a:picLocks noChangeAspect="1"/>
          </p:cNvPicPr>
          <p:nvPr/>
        </p:nvPicPr>
        <p:blipFill>
          <a:blip r:embed="rId3"/>
          <a:stretch>
            <a:fillRect/>
          </a:stretch>
        </p:blipFill>
        <p:spPr>
          <a:xfrm>
            <a:off x="1045342" y="1044263"/>
            <a:ext cx="10101316" cy="5388072"/>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CA466F50-417B-E940-9F41-D6D1E440146D}"/>
              </a:ext>
            </a:extLst>
          </p:cNvPr>
          <p:cNvPicPr>
            <a:picLocks noChangeAspect="1"/>
          </p:cNvPicPr>
          <p:nvPr/>
        </p:nvPicPr>
        <p:blipFill>
          <a:blip r:embed="rId3"/>
          <a:stretch>
            <a:fillRect/>
          </a:stretch>
        </p:blipFill>
        <p:spPr>
          <a:xfrm>
            <a:off x="1045341" y="816977"/>
            <a:ext cx="10101317" cy="538033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2D4957F-0078-3E59-EDC4-61DD2A946025}"/>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F19D5395-77F6-AAAD-5A3C-2EF2259C1979}"/>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5975DA6C-66B2-A593-3BC2-4D04923E6EC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3CEB4AF0-35C6-99EE-2466-5EBADC943BE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4B663FC-32D3-1459-819D-B50FA736C84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053D35E1-32A7-A722-827E-B2798604377A}"/>
              </a:ext>
            </a:extLst>
          </p:cNvPr>
          <p:cNvPicPr>
            <a:picLocks noChangeAspect="1"/>
          </p:cNvPicPr>
          <p:nvPr/>
        </p:nvPicPr>
        <p:blipFill>
          <a:blip r:embed="rId3"/>
          <a:stretch>
            <a:fillRect/>
          </a:stretch>
        </p:blipFill>
        <p:spPr>
          <a:xfrm>
            <a:off x="1045341" y="816977"/>
            <a:ext cx="10101317" cy="5351167"/>
          </a:xfrm>
          <a:prstGeom prst="rect">
            <a:avLst/>
          </a:prstGeom>
        </p:spPr>
      </p:pic>
    </p:spTree>
    <p:extLst>
      <p:ext uri="{BB962C8B-B14F-4D97-AF65-F5344CB8AC3E}">
        <p14:creationId xmlns:p14="http://schemas.microsoft.com/office/powerpoint/2010/main" val="3788506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2174F6DD-A417-E4AC-629C-E021D594626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F7065538-605D-EE88-60FA-861828130D1D}"/>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buClr>
                <a:srgbClr val="051D3A"/>
              </a:buClr>
              <a:buSzPts val="3500"/>
            </a:pPr>
            <a:r>
              <a:rPr lang="en-IN" sz="2400" b="1" dirty="0"/>
              <a:t>IBM Bob prompt</a:t>
            </a:r>
          </a:p>
          <a:p>
            <a:pPr marL="0" marR="0" lvl="0" indent="0" algn="l" rtl="0">
              <a:lnSpc>
                <a:spcPct val="157142"/>
              </a:lnSpc>
              <a:spcBef>
                <a:spcPts val="0"/>
              </a:spcBef>
              <a:spcAft>
                <a:spcPts val="0"/>
              </a:spcAft>
              <a:buClr>
                <a:srgbClr val="051D3A"/>
              </a:buClr>
              <a:buSzPts val="3500"/>
              <a:buFont typeface="Times New Roman"/>
              <a:buNone/>
            </a:pPr>
            <a:endParaRPr sz="2400" b="1" dirty="0">
              <a:sym typeface="Times New Roman"/>
            </a:endParaRPr>
          </a:p>
        </p:txBody>
      </p:sp>
      <p:sp>
        <p:nvSpPr>
          <p:cNvPr id="279" name="Google Shape;279;p18">
            <a:extLst>
              <a:ext uri="{FF2B5EF4-FFF2-40B4-BE49-F238E27FC236}">
                <a16:creationId xmlns:a16="http://schemas.microsoft.com/office/drawing/2014/main" id="{780CF97D-85C7-5FFA-8450-3544783A2930}"/>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B3541"/>
              </a:buClr>
              <a:buSzPts val="1850"/>
              <a:buFont typeface="Times New Roman"/>
              <a:buNone/>
            </a:pPr>
            <a:br>
              <a:rPr lang="en-US" sz="1850" dirty="0">
                <a:solidFill>
                  <a:srgbClr val="2B3541"/>
                </a:solidFill>
                <a:latin typeface="Times New Roman"/>
                <a:ea typeface="Times New Roman"/>
                <a:cs typeface="Times New Roman"/>
                <a:sym typeface="Times New Roman"/>
              </a:rPr>
            </a:b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16C1B54-724E-8548-5F4D-9522E36B81C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3C34A4EA-6F48-C93E-DA0C-AF7D53CBBCA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DDE1E0BD-A205-0C22-7D1F-8633E4A144C1}"/>
              </a:ext>
            </a:extLst>
          </p:cNvPr>
          <p:cNvSpPr txBox="1"/>
          <p:nvPr/>
        </p:nvSpPr>
        <p:spPr>
          <a:xfrm>
            <a:off x="1079829" y="1153712"/>
            <a:ext cx="10807372" cy="5047536"/>
          </a:xfrm>
          <a:prstGeom prst="rect">
            <a:avLst/>
          </a:prstGeom>
          <a:noFill/>
        </p:spPr>
        <p:txBody>
          <a:bodyPr wrap="square">
            <a:spAutoFit/>
          </a:bodyPr>
          <a:lstStyle/>
          <a:p>
            <a:pPr>
              <a:buNone/>
            </a:pPr>
            <a:r>
              <a:rPr lang="en-IN" dirty="0"/>
              <a:t>Build </a:t>
            </a:r>
            <a:r>
              <a:rPr lang="en-IN" b="1" dirty="0" err="1"/>
              <a:t>GridShield</a:t>
            </a:r>
            <a:r>
              <a:rPr lang="en-IN" b="1" dirty="0"/>
              <a:t> AI</a:t>
            </a:r>
            <a:r>
              <a:rPr lang="en-IN" dirty="0"/>
              <a:t>, a fully functional </a:t>
            </a:r>
            <a:r>
              <a:rPr lang="en-IN" b="1" dirty="0"/>
              <a:t>Agentic AI Electricity Fraud Detection &amp; Investigation Platform</a:t>
            </a:r>
            <a:r>
              <a:rPr lang="en-IN" dirty="0"/>
              <a:t> based on the following </a:t>
            </a:r>
            <a:r>
              <a:rPr lang="en-IN" b="1" dirty="0"/>
              <a:t>Problem Statement details</a:t>
            </a:r>
            <a:r>
              <a:rPr lang="en-IN" dirty="0"/>
              <a:t>:</a:t>
            </a:r>
            <a:br>
              <a:rPr lang="en-IN" dirty="0"/>
            </a:br>
            <a:endParaRPr lang="en-IN" dirty="0"/>
          </a:p>
          <a:p>
            <a:pPr>
              <a:buNone/>
            </a:pPr>
            <a:r>
              <a:rPr lang="en-IN" dirty="0"/>
              <a:t>The system should </a:t>
            </a:r>
            <a:r>
              <a:rPr lang="en-IN" dirty="0" err="1"/>
              <a:t>analyze</a:t>
            </a:r>
            <a:r>
              <a:rPr lang="en-IN" dirty="0"/>
              <a:t> </a:t>
            </a:r>
            <a:r>
              <a:rPr lang="en-IN" b="1" dirty="0"/>
              <a:t>electricity consumption and billing data</a:t>
            </a:r>
            <a:r>
              <a:rPr lang="en-IN" dirty="0"/>
              <a:t> to identify suspicious patterns such as </a:t>
            </a:r>
            <a:r>
              <a:rPr lang="en-IN" b="1" dirty="0"/>
              <a:t>sudden consumption drops, unusual spikes, abnormal consumption deviations, and meter/billing inconsistencies</a:t>
            </a:r>
            <a:r>
              <a:rPr lang="en-IN" dirty="0"/>
              <a:t>. It should use AI-based anomaly detection to identify potentially fraudulent or suspicious cases and provide </a:t>
            </a:r>
            <a:r>
              <a:rPr lang="en-IN" b="1" dirty="0"/>
              <a:t>clear, explainable insights</a:t>
            </a:r>
            <a:r>
              <a:rPr lang="en-IN" dirty="0"/>
              <a:t> showing why a consumer was flagged.</a:t>
            </a:r>
            <a:br>
              <a:rPr lang="en-IN" dirty="0"/>
            </a:br>
            <a:endParaRPr lang="en-IN" dirty="0"/>
          </a:p>
          <a:p>
            <a:pPr>
              <a:buNone/>
            </a:pPr>
            <a:r>
              <a:rPr lang="en-IN" dirty="0"/>
              <a:t>The platform should provide investigators with an end-to-end workflow covering </a:t>
            </a:r>
            <a:r>
              <a:rPr lang="en-IN" b="1" dirty="0"/>
              <a:t>data ingestion, validation, consumption analysis, anomaly detection, AI investigation, risk assessment, explainable evidence, recommended actions, case management, and report generation</a:t>
            </a:r>
            <a:r>
              <a:rPr lang="en-IN" dirty="0"/>
              <a:t>.</a:t>
            </a:r>
            <a:br>
              <a:rPr lang="en-IN" dirty="0"/>
            </a:br>
            <a:endParaRPr lang="en-IN" dirty="0"/>
          </a:p>
          <a:p>
            <a:pPr>
              <a:buNone/>
            </a:pPr>
            <a:r>
              <a:rPr lang="en-IN" dirty="0"/>
              <a:t>Use </a:t>
            </a:r>
            <a:r>
              <a:rPr lang="en-IN" b="1" dirty="0"/>
              <a:t>IBM </a:t>
            </a:r>
            <a:r>
              <a:rPr lang="en-IN" b="1" dirty="0" err="1"/>
              <a:t>Langflow</a:t>
            </a:r>
            <a:r>
              <a:rPr lang="en-IN" b="1" dirty="0"/>
              <a:t> / IBM Orchestrate and IBM Granite Models</a:t>
            </a:r>
            <a:r>
              <a:rPr lang="en-IN" dirty="0"/>
              <a:t> to implement a functional multi-agent architecture with specialized agents for </a:t>
            </a:r>
            <a:r>
              <a:rPr lang="en-IN" b="1" dirty="0"/>
              <a:t>data analysis, anomaly detection, fraud investigation, explainability, and decision support</a:t>
            </a:r>
            <a:r>
              <a:rPr lang="en-IN" dirty="0"/>
              <a:t>.</a:t>
            </a:r>
            <a:br>
              <a:rPr lang="en-IN" dirty="0"/>
            </a:br>
            <a:endParaRPr lang="en-IN" dirty="0"/>
          </a:p>
          <a:p>
            <a:pPr>
              <a:buNone/>
            </a:pPr>
            <a:r>
              <a:rPr lang="en-IN" dirty="0"/>
              <a:t>The system must generate a </a:t>
            </a:r>
            <a:r>
              <a:rPr lang="en-IN" b="1" dirty="0"/>
              <a:t>dynamic 0–100 investigation risk score</a:t>
            </a:r>
            <a:r>
              <a:rPr lang="en-IN" dirty="0"/>
              <a:t> based on actual </a:t>
            </a:r>
            <a:r>
              <a:rPr lang="en-IN" dirty="0" err="1"/>
              <a:t>analyzed</a:t>
            </a:r>
            <a:r>
              <a:rPr lang="en-IN" dirty="0"/>
              <a:t> evidence and classify cases into </a:t>
            </a:r>
            <a:r>
              <a:rPr lang="en-IN" b="1" dirty="0"/>
              <a:t>Low, Medium, High, or Critical</a:t>
            </a:r>
            <a:r>
              <a:rPr lang="en-IN" dirty="0"/>
              <a:t>. The AI should provide supporting evidence, affected billing periods, historical comparisons, reasoning, and recommended investigation actions.</a:t>
            </a:r>
          </a:p>
          <a:p>
            <a:pPr>
              <a:buNone/>
            </a:pPr>
            <a:endParaRPr lang="en-IN" dirty="0"/>
          </a:p>
          <a:p>
            <a:pPr>
              <a:buNone/>
            </a:pPr>
            <a:r>
              <a:rPr lang="en-IN" dirty="0"/>
              <a:t>Build a professional investigation dashboard with </a:t>
            </a:r>
            <a:r>
              <a:rPr lang="en-IN" b="1" dirty="0"/>
              <a:t>consumer analysis, anomaly monitoring, case management, AI investigation, data management, and report generation</a:t>
            </a:r>
            <a:r>
              <a:rPr lang="en-IN" dirty="0"/>
              <a:t>. All metrics, charts, AI results, and reports must come from actual processed data.</a:t>
            </a:r>
          </a:p>
          <a:p>
            <a:pPr>
              <a:buNone/>
            </a:pPr>
            <a:r>
              <a:rPr lang="en-IN" dirty="0"/>
              <a:t>The final application must be </a:t>
            </a:r>
            <a:r>
              <a:rPr lang="en-IN" b="1" dirty="0"/>
              <a:t>fully functional and end-to-end</a:t>
            </a:r>
            <a:r>
              <a:rPr lang="en-IN" dirty="0"/>
              <a:t>, with real data processing, working AI agents, proper API integration, database support, error handling, and no fake results, hardcoded AI decisions, dead buttons, or placeholder workflows.</a:t>
            </a:r>
          </a:p>
        </p:txBody>
      </p:sp>
    </p:spTree>
    <p:extLst>
      <p:ext uri="{BB962C8B-B14F-4D97-AF65-F5344CB8AC3E}">
        <p14:creationId xmlns:p14="http://schemas.microsoft.com/office/powerpoint/2010/main" val="3433150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61493" y="461483"/>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890016" y="1091261"/>
            <a:ext cx="11301984" cy="5909310"/>
          </a:xfrm>
          <a:prstGeom prst="rect">
            <a:avLst/>
          </a:prstGeom>
          <a:noFill/>
        </p:spPr>
        <p:txBody>
          <a:bodyPr wrap="square" rtlCol="0">
            <a:spAutoFit/>
          </a:bodyPr>
          <a:lstStyle/>
          <a:p>
            <a:pPr marL="342900" indent="-342900">
              <a:buFont typeface="+mj-lt"/>
              <a:buAutoNum type="arabicPeriod"/>
            </a:pPr>
            <a:r>
              <a:rPr lang="en-IN" sz="1800" b="1" dirty="0"/>
              <a:t>Multi-Agent Intelligence</a:t>
            </a:r>
            <a:r>
              <a:rPr lang="en-IN" sz="1800" dirty="0"/>
              <a:t> – Five specialized AI agents collaborate to </a:t>
            </a:r>
            <a:r>
              <a:rPr lang="en-IN" sz="1800" dirty="0" err="1"/>
              <a:t>analyze</a:t>
            </a:r>
            <a:r>
              <a:rPr lang="en-IN" sz="1800" dirty="0"/>
              <a:t>, investigate, explain, and prioritize suspicious cases.</a:t>
            </a:r>
          </a:p>
          <a:p>
            <a:pPr marL="342900" indent="-342900">
              <a:buFont typeface="+mj-lt"/>
              <a:buAutoNum type="arabicPeriod"/>
            </a:pPr>
            <a:endParaRPr lang="en-IN" sz="1800" dirty="0"/>
          </a:p>
          <a:p>
            <a:pPr marL="342900" indent="-342900">
              <a:buFont typeface="+mj-lt"/>
              <a:buAutoNum type="arabicPeriod"/>
            </a:pPr>
            <a:r>
              <a:rPr lang="en-IN" sz="1800" b="1" dirty="0" err="1"/>
              <a:t>Behavior</a:t>
            </a:r>
            <a:r>
              <a:rPr lang="en-IN" sz="1800" b="1" dirty="0"/>
              <a:t>-Based Anomaly Detection</a:t>
            </a:r>
            <a:r>
              <a:rPr lang="en-IN" sz="1800" dirty="0"/>
              <a:t> – Detects unusual consumption patterns, sudden drops, spikes, meter gaps, and billing inconsistencies.</a:t>
            </a:r>
          </a:p>
          <a:p>
            <a:pPr marL="342900" indent="-342900">
              <a:buFont typeface="+mj-lt"/>
              <a:buAutoNum type="arabicPeriod"/>
            </a:pPr>
            <a:endParaRPr lang="en-IN" sz="1800" dirty="0"/>
          </a:p>
          <a:p>
            <a:pPr marL="342900" indent="-342900">
              <a:buFont typeface="+mj-lt"/>
              <a:buAutoNum type="arabicPeriod"/>
            </a:pPr>
            <a:r>
              <a:rPr lang="en-IN" sz="1800" b="1" dirty="0"/>
              <a:t>Explainable Fraud Investigation</a:t>
            </a:r>
            <a:r>
              <a:rPr lang="en-IN" sz="1800" dirty="0"/>
              <a:t> – Provides evidence-based explanations showing </a:t>
            </a:r>
            <a:r>
              <a:rPr lang="en-IN" sz="1800" b="1" dirty="0"/>
              <a:t>why a consumer was flagged</a:t>
            </a:r>
            <a:r>
              <a:rPr lang="en-IN" sz="1800" dirty="0"/>
              <a:t> instead of giving only a risk score.</a:t>
            </a:r>
          </a:p>
          <a:p>
            <a:pPr marL="342900" indent="-342900">
              <a:buFont typeface="+mj-lt"/>
              <a:buAutoNum type="arabicPeriod"/>
            </a:pPr>
            <a:endParaRPr lang="en-IN" sz="1800" dirty="0"/>
          </a:p>
          <a:p>
            <a:pPr marL="342900" indent="-342900">
              <a:buFont typeface="+mj-lt"/>
              <a:buAutoNum type="arabicPeriod"/>
            </a:pPr>
            <a:r>
              <a:rPr lang="en-IN" sz="1800" b="1" dirty="0"/>
              <a:t>Dynamic Risk Scoring</a:t>
            </a:r>
            <a:r>
              <a:rPr lang="en-IN" sz="1800" dirty="0"/>
              <a:t> – Generates a </a:t>
            </a:r>
            <a:r>
              <a:rPr lang="en-IN" sz="1800" b="1" dirty="0"/>
              <a:t>0–100 AI-assisted investigation priority score</a:t>
            </a:r>
            <a:r>
              <a:rPr lang="en-IN" sz="1800" dirty="0"/>
              <a:t> based on anomaly severity, frequency, and available historical data.</a:t>
            </a:r>
          </a:p>
          <a:p>
            <a:pPr marL="342900" indent="-342900">
              <a:buFont typeface="+mj-lt"/>
              <a:buAutoNum type="arabicPeriod"/>
            </a:pPr>
            <a:endParaRPr lang="en-IN" sz="1800" dirty="0"/>
          </a:p>
          <a:p>
            <a:pPr marL="342900" indent="-342900">
              <a:buFont typeface="+mj-lt"/>
              <a:buAutoNum type="arabicPeriod"/>
            </a:pPr>
            <a:r>
              <a:rPr lang="en-IN" sz="1800" b="1" dirty="0"/>
              <a:t>Automated Case Management</a:t>
            </a:r>
            <a:r>
              <a:rPr lang="en-IN" sz="1800" dirty="0"/>
              <a:t> – Converts suspicious findings into investigation cases with status tracking, notes, and timelines.</a:t>
            </a:r>
          </a:p>
          <a:p>
            <a:pPr marL="342900" indent="-342900">
              <a:buFont typeface="+mj-lt"/>
              <a:buAutoNum type="arabicPeriod"/>
            </a:pPr>
            <a:endParaRPr lang="en-IN" sz="1800" dirty="0"/>
          </a:p>
          <a:p>
            <a:pPr marL="342900" indent="-342900">
              <a:buFont typeface="+mj-lt"/>
              <a:buAutoNum type="arabicPeriod"/>
            </a:pPr>
            <a:r>
              <a:rPr lang="en-IN" sz="1800" b="1" dirty="0"/>
              <a:t>Evidence-Based Reports</a:t>
            </a:r>
            <a:r>
              <a:rPr lang="en-IN" sz="1800" dirty="0"/>
              <a:t> – Generates structured PDF reports containing anomalies, risk assessment, evidence, and recommended actions.</a:t>
            </a:r>
          </a:p>
          <a:p>
            <a:pPr marL="342900" indent="-342900">
              <a:buFont typeface="+mj-lt"/>
              <a:buAutoNum type="arabicPeriod"/>
            </a:pPr>
            <a:endParaRPr lang="en-IN" sz="1800" dirty="0"/>
          </a:p>
          <a:p>
            <a:pPr marL="342900" indent="-342900">
              <a:buFont typeface="+mj-lt"/>
              <a:buAutoNum type="arabicPeriod"/>
            </a:pPr>
            <a:r>
              <a:rPr lang="en-IN" sz="1800" b="1" dirty="0"/>
              <a:t>End-to-End Intelligence</a:t>
            </a:r>
            <a:r>
              <a:rPr lang="en-IN" sz="1800" dirty="0"/>
              <a:t> – Connects </a:t>
            </a:r>
            <a:r>
              <a:rPr lang="en-IN" sz="1800" b="1" dirty="0"/>
              <a:t>real electricity data → anomaly detection → AI investigation → risk assessment → case management → report generation</a:t>
            </a:r>
            <a:r>
              <a:rPr lang="en-IN" sz="1800" dirty="0"/>
              <a:t>.</a:t>
            </a:r>
          </a:p>
          <a:p>
            <a:pPr marL="285750" indent="-285750">
              <a:buFont typeface="Arial" panose="020B0604020202020204" pitchFamily="34" charset="0"/>
              <a:buChar char="•"/>
            </a:pPr>
            <a:endParaRPr lang="en-IN" sz="1800"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1750075"/>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 </a:t>
            </a:r>
            <a:r>
              <a:rPr lang="en-US" sz="2000" dirty="0">
                <a:solidFill>
                  <a:srgbClr val="2B3541"/>
                </a:solidFill>
                <a:latin typeface="+mn-lt"/>
                <a:ea typeface="Times New Roman"/>
                <a:cs typeface="Times New Roman"/>
                <a:sym typeface="Times New Roman"/>
              </a:rPr>
              <a:t>The Working  </a:t>
            </a:r>
            <a:r>
              <a:rPr lang="en-US" sz="2000" dirty="0" err="1">
                <a:solidFill>
                  <a:srgbClr val="2B3541"/>
                </a:solidFill>
                <a:latin typeface="+mn-lt"/>
                <a:ea typeface="Times New Roman"/>
                <a:cs typeface="Times New Roman"/>
                <a:sym typeface="Times New Roman"/>
              </a:rPr>
              <a:t>Github</a:t>
            </a:r>
            <a:r>
              <a:rPr lang="en-US" sz="2000" dirty="0">
                <a:solidFill>
                  <a:srgbClr val="2B3541"/>
                </a:solidFill>
                <a:latin typeface="+mn-lt"/>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rPr>
              <a:t>– https://github.com/omchandrakar17/GridShield-Ai</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488710" y="1284620"/>
            <a:ext cx="9214580" cy="4917239"/>
          </a:xfrm>
          <a:prstGeom prst="rect">
            <a:avLst/>
          </a:prstGeom>
          <a:noFill/>
          <a:ln>
            <a:noFill/>
          </a:ln>
        </p:spPr>
        <p:txBody>
          <a:bodyPr spcFirstLastPara="1" wrap="square" lIns="0" tIns="0" rIns="0" bIns="0" anchor="t" anchorCtr="0">
            <a:noAutofit/>
          </a:bodyPr>
          <a:lstStyle/>
          <a:p>
            <a:pPr marL="342900" lvl="0" indent="-342900">
              <a:buFont typeface="+mj-lt"/>
              <a:buAutoNum type="arabicPeriod"/>
            </a:pPr>
            <a:r>
              <a:rPr lang="en-IN" sz="1800" b="1" dirty="0"/>
              <a:t>Real-Time Fraud Detection</a:t>
            </a:r>
            <a:r>
              <a:rPr lang="en-IN" sz="1800" dirty="0"/>
              <a:t> – Continuously monitor electricity consumption and detect suspicious patterns. </a:t>
            </a:r>
          </a:p>
          <a:p>
            <a:pPr marL="342900" lvl="0" indent="-342900">
              <a:buFont typeface="+mj-lt"/>
              <a:buAutoNum type="arabicPeriod"/>
            </a:pPr>
            <a:endParaRPr lang="en-IN" sz="1800" dirty="0"/>
          </a:p>
          <a:p>
            <a:pPr marL="342900" lvl="0" indent="-342900">
              <a:buFont typeface="+mj-lt"/>
              <a:buAutoNum type="arabicPeriod"/>
            </a:pPr>
            <a:r>
              <a:rPr lang="en-IN" sz="1800" b="1" dirty="0"/>
              <a:t>Smart Meter Integration</a:t>
            </a:r>
            <a:r>
              <a:rPr lang="en-IN" sz="1800" dirty="0"/>
              <a:t> – Connect directly with smart meters and IoT devices for live data. </a:t>
            </a:r>
          </a:p>
          <a:p>
            <a:pPr marL="342900" lvl="0" indent="-342900">
              <a:buFont typeface="+mj-lt"/>
              <a:buAutoNum type="arabicPeriod"/>
            </a:pPr>
            <a:endParaRPr lang="en-IN" sz="1800" dirty="0"/>
          </a:p>
          <a:p>
            <a:pPr marL="342900" lvl="0" indent="-342900">
              <a:buFont typeface="+mj-lt"/>
              <a:buAutoNum type="arabicPeriod"/>
            </a:pPr>
            <a:r>
              <a:rPr lang="en-IN" sz="1800" b="1" dirty="0"/>
              <a:t>Advanced AI Models</a:t>
            </a:r>
            <a:r>
              <a:rPr lang="en-IN" sz="1800" dirty="0"/>
              <a:t> – Improve fraud prediction using machine learning and advanced IBM Granite models. </a:t>
            </a:r>
          </a:p>
          <a:p>
            <a:pPr marL="342900" lvl="0" indent="-342900">
              <a:buFont typeface="+mj-lt"/>
              <a:buAutoNum type="arabicPeriod"/>
            </a:pPr>
            <a:endParaRPr lang="en-IN" sz="1800" dirty="0"/>
          </a:p>
          <a:p>
            <a:pPr marL="342900" lvl="0" indent="-342900">
              <a:buFont typeface="+mj-lt"/>
              <a:buAutoNum type="arabicPeriod"/>
            </a:pPr>
            <a:r>
              <a:rPr lang="en-IN" sz="1800" b="1" dirty="0"/>
              <a:t>Automated Investigation</a:t>
            </a:r>
            <a:r>
              <a:rPr lang="en-IN" sz="1800" dirty="0"/>
              <a:t> – Enable AI agents to automatically prioritize and investigate high-risk cases. </a:t>
            </a:r>
          </a:p>
          <a:p>
            <a:pPr marL="342900" lvl="0" indent="-342900">
              <a:buFont typeface="+mj-lt"/>
              <a:buAutoNum type="arabicPeriod"/>
            </a:pPr>
            <a:endParaRPr lang="en-IN" sz="1800" dirty="0"/>
          </a:p>
          <a:p>
            <a:pPr marL="342900" lvl="0" indent="-342900">
              <a:buFont typeface="+mj-lt"/>
              <a:buAutoNum type="arabicPeriod"/>
            </a:pPr>
            <a:r>
              <a:rPr lang="en-IN" sz="1800" b="1" dirty="0"/>
              <a:t>Utility System Integration</a:t>
            </a:r>
            <a:r>
              <a:rPr lang="en-IN" sz="1800" dirty="0"/>
              <a:t> – Integrate with electricity billing and utility management systems. </a:t>
            </a:r>
          </a:p>
          <a:p>
            <a:pPr marL="342900" lvl="0" indent="-342900">
              <a:buFont typeface="+mj-lt"/>
              <a:buAutoNum type="arabicPeriod"/>
            </a:pPr>
            <a:endParaRPr lang="en-IN" sz="1800" dirty="0"/>
          </a:p>
          <a:p>
            <a:pPr marL="342900" lvl="0" indent="-342900">
              <a:buFont typeface="+mj-lt"/>
              <a:buAutoNum type="arabicPeriod"/>
            </a:pPr>
            <a:r>
              <a:rPr lang="en-IN" sz="1800" b="1" dirty="0"/>
              <a:t>Mobile Application</a:t>
            </a:r>
            <a:r>
              <a:rPr lang="en-IN" sz="1800" dirty="0"/>
              <a:t> – Provide investigators with a mobile-based case monitoring and inspection system. </a:t>
            </a:r>
          </a:p>
          <a:p>
            <a:pPr lvl="0"/>
            <a:endParaRPr lang="en-IN" sz="1800" dirty="0"/>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FDA0D616-EA72-0389-88C0-8745CA2325CB}"/>
              </a:ext>
            </a:extLst>
          </p:cNvPr>
          <p:cNvPicPr>
            <a:picLocks noChangeAspect="1"/>
          </p:cNvPicPr>
          <p:nvPr/>
        </p:nvPicPr>
        <p:blipFill>
          <a:blip r:embed="rId2"/>
          <a:stretch>
            <a:fillRect/>
          </a:stretch>
        </p:blipFill>
        <p:spPr>
          <a:xfrm>
            <a:off x="2640119" y="1647143"/>
            <a:ext cx="6911761" cy="4520796"/>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F7F48CC9-2794-1233-5AC9-EE659ED5A8CA}"/>
              </a:ext>
            </a:extLst>
          </p:cNvPr>
          <p:cNvPicPr>
            <a:picLocks noChangeAspect="1"/>
          </p:cNvPicPr>
          <p:nvPr/>
        </p:nvPicPr>
        <p:blipFill>
          <a:blip r:embed="rId2"/>
          <a:stretch>
            <a:fillRect/>
          </a:stretch>
        </p:blipFill>
        <p:spPr>
          <a:xfrm>
            <a:off x="2350265" y="1774659"/>
            <a:ext cx="7168517" cy="4572416"/>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1376</Words>
  <Application>Microsoft Office PowerPoint</Application>
  <PresentationFormat>Widescreen</PresentationFormat>
  <Paragraphs>158</Paragraphs>
  <Slides>20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om chandrakar</cp:lastModifiedBy>
  <cp:revision>3</cp:revision>
  <dcterms:created xsi:type="dcterms:W3CDTF">2025-07-08T05:06:56Z</dcterms:created>
  <dcterms:modified xsi:type="dcterms:W3CDTF">2026-09-10T08:09:34Z</dcterms:modified>
</cp:coreProperties>
</file>